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4" r:id="rId4"/>
  </p:sldMasterIdLst>
  <p:notesMasterIdLst>
    <p:notesMasterId r:id="rId14"/>
  </p:notesMasterIdLst>
  <p:handoutMasterIdLst>
    <p:handoutMasterId r:id="rId15"/>
  </p:handoutMasterIdLst>
  <p:sldIdLst>
    <p:sldId id="256" r:id="rId5"/>
    <p:sldId id="258" r:id="rId6"/>
    <p:sldId id="257" r:id="rId7"/>
    <p:sldId id="259" r:id="rId8"/>
    <p:sldId id="266" r:id="rId9"/>
    <p:sldId id="267" r:id="rId10"/>
    <p:sldId id="268" r:id="rId11"/>
    <p:sldId id="265"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E42"/>
    <a:srgbClr val="E2DED9"/>
    <a:srgbClr val="FDFDFD"/>
    <a:srgbClr val="DEDBD8"/>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C2FFA5D-87B4-456A-9821-1D502468CF0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180" y="64"/>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D81DDF-98D4-498E-A94D-DDD7A807AD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391BFCE-55A1-4C09-B4B5-9359AD6F4D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E4FA28-26D5-4BDF-9A75-C27596ADE055}" type="datetimeFigureOut">
              <a:rPr lang="en-US" smtClean="0"/>
              <a:t>1/28/2025</a:t>
            </a:fld>
            <a:endParaRPr lang="en-US" dirty="0"/>
          </a:p>
        </p:txBody>
      </p:sp>
      <p:sp>
        <p:nvSpPr>
          <p:cNvPr id="4" name="Footer Placeholder 3">
            <a:extLst>
              <a:ext uri="{FF2B5EF4-FFF2-40B4-BE49-F238E27FC236}">
                <a16:creationId xmlns:a16="http://schemas.microsoft.com/office/drawing/2014/main" id="{4BEEB1F3-97EE-4F0D-B402-E34820EC6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054877F-A04A-4D6A-A0A8-95CC6E2D2A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507CFE-5866-4B40-8953-42375E9B5DB3}" type="slidenum">
              <a:rPr lang="en-US" smtClean="0"/>
              <a:t>‹#›</a:t>
            </a:fld>
            <a:endParaRPr lang="en-US" dirty="0"/>
          </a:p>
        </p:txBody>
      </p:sp>
    </p:spTree>
    <p:extLst>
      <p:ext uri="{BB962C8B-B14F-4D97-AF65-F5344CB8AC3E}">
        <p14:creationId xmlns:p14="http://schemas.microsoft.com/office/powerpoint/2010/main" val="1955250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E1D6F-8584-4A53-833D-DCA47225B220}"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3874D-A20A-4B3E-9C12-F524953D5B76}" type="slidenum">
              <a:rPr lang="en-US" smtClean="0"/>
              <a:t>‹#›</a:t>
            </a:fld>
            <a:endParaRPr lang="en-US" dirty="0"/>
          </a:p>
        </p:txBody>
      </p:sp>
    </p:spTree>
    <p:extLst>
      <p:ext uri="{BB962C8B-B14F-4D97-AF65-F5344CB8AC3E}">
        <p14:creationId xmlns:p14="http://schemas.microsoft.com/office/powerpoint/2010/main" val="228530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7464" y="802298"/>
            <a:ext cx="8637073" cy="2541431"/>
          </a:xfrm>
        </p:spPr>
        <p:txBody>
          <a:bodyPr bIns="0" anchor="b">
            <a:normAutofit/>
          </a:bodyPr>
          <a:lstStyle>
            <a:lvl1pPr algn="l">
              <a:defRPr sz="6600"/>
            </a:lvl1pPr>
          </a:lstStyle>
          <a:p>
            <a:r>
              <a:rPr lang="en-US" noProof="0" smtClean="0"/>
              <a:t>Click to edit Master title style</a:t>
            </a:r>
            <a:endParaRPr lang="en-US" noProof="0"/>
          </a:p>
        </p:txBody>
      </p:sp>
      <p:sp>
        <p:nvSpPr>
          <p:cNvPr id="3" name="Subtitle 2"/>
          <p:cNvSpPr>
            <a:spLocks noGrp="1"/>
          </p:cNvSpPr>
          <p:nvPr>
            <p:ph type="subTitle" idx="1"/>
          </p:nvPr>
        </p:nvSpPr>
        <p:spPr>
          <a:xfrm>
            <a:off x="1777464"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6913821" y="6370429"/>
            <a:ext cx="3500715" cy="309201"/>
          </a:xfrm>
        </p:spPr>
        <p:txBody>
          <a:bodyPr/>
          <a:lstStyle/>
          <a:p>
            <a:fld id="{2D202488-4139-4052-B998-251C9C912739}" type="datetimeFigureOut">
              <a:rPr lang="en-US" noProof="0" smtClean="0"/>
              <a:t>1/28/2025</a:t>
            </a:fld>
            <a:endParaRPr lang="en-US" noProof="0" dirty="0"/>
          </a:p>
        </p:txBody>
      </p:sp>
      <p:sp>
        <p:nvSpPr>
          <p:cNvPr id="5" name="Footer Placeholder 4"/>
          <p:cNvSpPr>
            <a:spLocks noGrp="1"/>
          </p:cNvSpPr>
          <p:nvPr>
            <p:ph type="ftr" sz="quarter" idx="11"/>
          </p:nvPr>
        </p:nvSpPr>
        <p:spPr>
          <a:xfrm>
            <a:off x="1777464" y="6370430"/>
            <a:ext cx="4973915" cy="309201"/>
          </a:xfrm>
        </p:spPr>
        <p:txBody>
          <a:bodyPr/>
          <a:lstStyle/>
          <a:p>
            <a:r>
              <a:rPr lang="en-US" noProof="0" dirty="0"/>
              <a:t>Add Footer Here</a:t>
            </a:r>
          </a:p>
        </p:txBody>
      </p:sp>
      <p:cxnSp>
        <p:nvCxnSpPr>
          <p:cNvPr id="15" name="Straight Connector 14"/>
          <p:cNvCxnSpPr/>
          <p:nvPr/>
        </p:nvCxnSpPr>
        <p:spPr>
          <a:xfrm>
            <a:off x="1777464"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56400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33" name="Straight Connector 32"/>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Title 5">
            <a:extLst>
              <a:ext uri="{FF2B5EF4-FFF2-40B4-BE49-F238E27FC236}">
                <a16:creationId xmlns:a16="http://schemas.microsoft.com/office/drawing/2014/main" id="{C414FF1F-6558-4E39-87DB-276E44F5477C}"/>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35688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887950"/>
          </a:xfrm>
        </p:spPr>
        <p:txBody>
          <a:bodyPr anchor="b">
            <a:normAutofit/>
          </a:bodyPr>
          <a:lstStyle>
            <a:lvl1pPr algn="l">
              <a:defRPr sz="360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780777"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15" name="Straight Connector 14"/>
          <p:cNvCxnSpPr/>
          <p:nvPr/>
        </p:nvCxnSpPr>
        <p:spPr>
          <a:xfrm>
            <a:off x="1780777"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013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2239" y="2161853"/>
            <a:ext cx="4645152" cy="3448595"/>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258679" y="2168318"/>
            <a:ext cx="4645152" cy="344152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4715607D-9DE2-4687-AAF8-EF2427252A90}"/>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2F96D46B-C1B8-46AB-87DF-61A8058B1F42}"/>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77750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87315" y="1950795"/>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287315" y="2755515"/>
            <a:ext cx="4645152" cy="2644457"/>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252486" y="1954249"/>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252486" y="2752737"/>
            <a:ext cx="4645152" cy="2637371"/>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8" name="Footer Placeholder 7"/>
          <p:cNvSpPr>
            <a:spLocks noGrp="1"/>
          </p:cNvSpPr>
          <p:nvPr>
            <p:ph type="ftr" sz="quarter" idx="11"/>
          </p:nvPr>
        </p:nvSpPr>
        <p:spPr/>
        <p:txBody>
          <a:bodyPr/>
          <a:lstStyle/>
          <a:p>
            <a:r>
              <a:rPr lang="en-US" noProof="0" dirty="0"/>
              <a:t>Add Footer Here</a:t>
            </a:r>
          </a:p>
        </p:txBody>
      </p:sp>
      <p:cxnSp>
        <p:nvCxnSpPr>
          <p:cNvPr id="11" name="Straight Connector 10">
            <a:extLst>
              <a:ext uri="{FF2B5EF4-FFF2-40B4-BE49-F238E27FC236}">
                <a16:creationId xmlns:a16="http://schemas.microsoft.com/office/drawing/2014/main" id="{C384AA55-1960-47F4-BA3C-E97A6F2D0B19}"/>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Title 8">
            <a:extLst>
              <a:ext uri="{FF2B5EF4-FFF2-40B4-BE49-F238E27FC236}">
                <a16:creationId xmlns:a16="http://schemas.microsoft.com/office/drawing/2014/main" id="{09471694-1220-4CFC-A31F-622E5D3DE2D5}"/>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98174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id="{FFB55B52-B62C-4800-AAC1-B15AF2FE1F45}"/>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453955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id="{FFB55B52-B62C-4800-AAC1-B15AF2FE1F45}"/>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
        <p:nvSpPr>
          <p:cNvPr id="6" name="Text Placeholder 5">
            <a:extLst>
              <a:ext uri="{FF2B5EF4-FFF2-40B4-BE49-F238E27FC236}">
                <a16:creationId xmlns:a16="http://schemas.microsoft.com/office/drawing/2014/main" id="{A5A680F6-C147-410B-94DF-19850752D7DF}"/>
              </a:ext>
            </a:extLst>
          </p:cNvPr>
          <p:cNvSpPr>
            <a:spLocks noGrp="1"/>
          </p:cNvSpPr>
          <p:nvPr>
            <p:ph type="body" sz="quarter" idx="12"/>
          </p:nvPr>
        </p:nvSpPr>
        <p:spPr>
          <a:xfrm>
            <a:off x="1694656" y="1865037"/>
            <a:ext cx="8802688" cy="3127927"/>
          </a:xfrm>
        </p:spPr>
        <p:txBody>
          <a:bodyPr anchor="ctr">
            <a:normAutofit/>
          </a:bodyPr>
          <a:lstStyle>
            <a:lvl1pPr marL="0" indent="0" algn="ctr">
              <a:buNone/>
              <a:defRPr sz="6000"/>
            </a:lvl1pPr>
            <a:lvl2pPr marL="457200" indent="0">
              <a:buNone/>
              <a:defRPr/>
            </a:lvl2pPr>
          </a:lstStyle>
          <a:p>
            <a:pPr lvl="0"/>
            <a:r>
              <a:rPr lang="en-US" noProof="0" smtClean="0"/>
              <a:t>Edit Master text styles</a:t>
            </a:r>
          </a:p>
        </p:txBody>
      </p:sp>
    </p:spTree>
    <p:extLst>
      <p:ext uri="{BB962C8B-B14F-4D97-AF65-F5344CB8AC3E}">
        <p14:creationId xmlns:p14="http://schemas.microsoft.com/office/powerpoint/2010/main" val="4010242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3" name="Footer Placeholder 2"/>
          <p:cNvSpPr>
            <a:spLocks noGrp="1"/>
          </p:cNvSpPr>
          <p:nvPr>
            <p:ph type="ftr" sz="quarter" idx="11"/>
          </p:nvPr>
        </p:nvSpPr>
        <p:spPr/>
        <p:txBody>
          <a:bodyPr/>
          <a:lstStyle/>
          <a:p>
            <a:r>
              <a:rPr lang="en-US" noProof="0" dirty="0"/>
              <a:t>Add Footer Here </a:t>
            </a:r>
          </a:p>
        </p:txBody>
      </p:sp>
    </p:spTree>
    <p:extLst>
      <p:ext uri="{BB962C8B-B14F-4D97-AF65-F5344CB8AC3E}">
        <p14:creationId xmlns:p14="http://schemas.microsoft.com/office/powerpoint/2010/main" val="3771245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5246" y="1645522"/>
            <a:ext cx="5807176" cy="3840852"/>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1290909" y="1645522"/>
            <a:ext cx="3600000" cy="383672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6CC09F73-0AD6-4A1E-A331-75A00B808982}"/>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1B74F78C-6D32-47C3-ABB2-6E7092A9C4A3}"/>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3281653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Gallery ">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0394"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7873638" y="5144980"/>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1/28/2025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6CC09F73-0AD6-4A1E-A331-75A00B808982}"/>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Content Placeholder 2">
            <a:extLst>
              <a:ext uri="{FF2B5EF4-FFF2-40B4-BE49-F238E27FC236}">
                <a16:creationId xmlns:a16="http://schemas.microsoft.com/office/drawing/2014/main" id="{9DE9A20D-024F-4A17-9B20-526AA4037253}"/>
              </a:ext>
            </a:extLst>
          </p:cNvPr>
          <p:cNvSpPr>
            <a:spLocks noGrp="1"/>
          </p:cNvSpPr>
          <p:nvPr>
            <p:ph idx="12"/>
          </p:nvPr>
        </p:nvSpPr>
        <p:spPr>
          <a:xfrm>
            <a:off x="4602108"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Content Placeholder 2">
            <a:extLst>
              <a:ext uri="{FF2B5EF4-FFF2-40B4-BE49-F238E27FC236}">
                <a16:creationId xmlns:a16="http://schemas.microsoft.com/office/drawing/2014/main" id="{37D8F60F-F9DD-4AAC-BF28-C004CCDF2D69}"/>
              </a:ext>
            </a:extLst>
          </p:cNvPr>
          <p:cNvSpPr>
            <a:spLocks noGrp="1"/>
          </p:cNvSpPr>
          <p:nvPr>
            <p:ph idx="13"/>
          </p:nvPr>
        </p:nvSpPr>
        <p:spPr>
          <a:xfrm>
            <a:off x="7873638"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3">
            <a:extLst>
              <a:ext uri="{FF2B5EF4-FFF2-40B4-BE49-F238E27FC236}">
                <a16:creationId xmlns:a16="http://schemas.microsoft.com/office/drawing/2014/main" id="{8F09FDD8-5B1C-4AAA-8EEC-0A77C9E477D1}"/>
              </a:ext>
            </a:extLst>
          </p:cNvPr>
          <p:cNvSpPr>
            <a:spLocks noGrp="1"/>
          </p:cNvSpPr>
          <p:nvPr>
            <p:ph type="body" sz="half" idx="14"/>
          </p:nvPr>
        </p:nvSpPr>
        <p:spPr>
          <a:xfrm>
            <a:off x="4595889" y="5144979"/>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12" name="Text Placeholder 3">
            <a:extLst>
              <a:ext uri="{FF2B5EF4-FFF2-40B4-BE49-F238E27FC236}">
                <a16:creationId xmlns:a16="http://schemas.microsoft.com/office/drawing/2014/main" id="{E6DF0B7E-E17E-4875-966D-4DE67F755B71}"/>
              </a:ext>
            </a:extLst>
          </p:cNvPr>
          <p:cNvSpPr>
            <a:spLocks noGrp="1"/>
          </p:cNvSpPr>
          <p:nvPr>
            <p:ph type="body" sz="half" idx="15"/>
          </p:nvPr>
        </p:nvSpPr>
        <p:spPr>
          <a:xfrm>
            <a:off x="1306587" y="5144978"/>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cxnSp>
        <p:nvCxnSpPr>
          <p:cNvPr id="13" name="Straight Connector 12">
            <a:extLst>
              <a:ext uri="{FF2B5EF4-FFF2-40B4-BE49-F238E27FC236}">
                <a16:creationId xmlns:a16="http://schemas.microsoft.com/office/drawing/2014/main" id="{5685D963-B130-47E9-AFCC-AEBED2B1155B}"/>
              </a:ext>
            </a:extLst>
          </p:cNvPr>
          <p:cNvCxnSpPr>
            <a:cxnSpLocks/>
          </p:cNvCxnSpPr>
          <p:nvPr userDrawn="1"/>
        </p:nvCxnSpPr>
        <p:spPr>
          <a:xfrm>
            <a:off x="448407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2FA9B6CF-713A-4942-BE35-A61AFCDDFD3D}"/>
              </a:ext>
            </a:extLst>
          </p:cNvPr>
          <p:cNvCxnSpPr>
            <a:cxnSpLocks/>
          </p:cNvCxnSpPr>
          <p:nvPr userDrawn="1"/>
        </p:nvCxnSpPr>
        <p:spPr>
          <a:xfrm>
            <a:off x="775774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sp>
        <p:nvSpPr>
          <p:cNvPr id="19" name="Text Placeholder 18">
            <a:extLst>
              <a:ext uri="{FF2B5EF4-FFF2-40B4-BE49-F238E27FC236}">
                <a16:creationId xmlns:a16="http://schemas.microsoft.com/office/drawing/2014/main" id="{93809A32-C7A4-4739-994B-BE492F855ACC}"/>
              </a:ext>
            </a:extLst>
          </p:cNvPr>
          <p:cNvSpPr>
            <a:spLocks noGrp="1"/>
          </p:cNvSpPr>
          <p:nvPr>
            <p:ph type="body" sz="quarter" idx="16"/>
          </p:nvPr>
        </p:nvSpPr>
        <p:spPr>
          <a:xfrm>
            <a:off x="1290908" y="1617663"/>
            <a:ext cx="9618391" cy="1336675"/>
          </a:xfrm>
        </p:spPr>
        <p:txBody>
          <a:bodyPr>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Title 6">
            <a:extLst>
              <a:ext uri="{FF2B5EF4-FFF2-40B4-BE49-F238E27FC236}">
                <a16:creationId xmlns:a16="http://schemas.microsoft.com/office/drawing/2014/main" id="{2C1ABD52-D5FE-4FC2-8449-5DA0E52853E1}"/>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242703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noProof="0" smtClean="0"/>
              <a:t>Click to edit Master title style</a:t>
            </a:r>
            <a:endParaRPr lang="en-US" noProof="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7236069" y="6332578"/>
            <a:ext cx="4315852" cy="320123"/>
          </a:xfrm>
        </p:spPr>
        <p:txBody>
          <a:bodyPr/>
          <a:lstStyle>
            <a:lvl1pPr algn="r">
              <a:defRPr/>
            </a:lvl1pPr>
          </a:lstStyle>
          <a:p>
            <a:fld id="{2D202488-4139-4052-B998-251C9C912739}" type="datetimeFigureOut">
              <a:rPr lang="en-US" noProof="0" smtClean="0"/>
              <a:pPr/>
              <a:t>1/28/2025</a:t>
            </a:fld>
            <a:endParaRPr lang="en-US" noProof="0" dirty="0"/>
          </a:p>
        </p:txBody>
      </p:sp>
      <p:sp>
        <p:nvSpPr>
          <p:cNvPr id="6" name="Footer Placeholder 5"/>
          <p:cNvSpPr>
            <a:spLocks noGrp="1"/>
          </p:cNvSpPr>
          <p:nvPr>
            <p:ph type="ftr" sz="quarter" idx="11"/>
          </p:nvPr>
        </p:nvSpPr>
        <p:spPr>
          <a:xfrm>
            <a:off x="1447382" y="6332578"/>
            <a:ext cx="5541004" cy="320931"/>
          </a:xfrm>
        </p:spPr>
        <p:txBody>
          <a:bodyPr/>
          <a:lstStyle/>
          <a:p>
            <a:r>
              <a:rPr lang="en-US" noProof="0" dirty="0"/>
              <a:t>Add Footer Here</a:t>
            </a: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1589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cstate="screen">
            <a:extLst>
              <a:ext uri="{BEBA8EAE-BF5A-486C-A8C5-ECC9F3942E4B}">
                <a14:imgProps xmlns:a14="http://schemas.microsoft.com/office/drawing/2010/main">
                  <a14:imgLayer r:embed="rId15">
                    <a14:imgEffect>
                      <a14:brightnessContrast contrast="40000"/>
                    </a14:imgEffect>
                  </a14:imgLayer>
                </a14:imgProps>
              </a:ex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sp>
        <p:nvSpPr>
          <p:cNvPr id="2" name="Title Placeholder 1"/>
          <p:cNvSpPr>
            <a:spLocks noGrp="1"/>
          </p:cNvSpPr>
          <p:nvPr>
            <p:ph type="title"/>
          </p:nvPr>
        </p:nvSpPr>
        <p:spPr>
          <a:xfrm>
            <a:off x="1294363" y="804519"/>
            <a:ext cx="9603275" cy="1049235"/>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294363" y="2015732"/>
            <a:ext cx="9603275" cy="3450613"/>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7396923" y="6340793"/>
            <a:ext cx="3500715" cy="309201"/>
          </a:xfrm>
          <a:prstGeom prst="rect">
            <a:avLst/>
          </a:prstGeom>
        </p:spPr>
        <p:txBody>
          <a:bodyPr vert="horz" lIns="91440" tIns="45720" rIns="91440" bIns="45720" rtlCol="0" anchor="ctr"/>
          <a:lstStyle>
            <a:lvl1pPr algn="r">
              <a:defRPr sz="1000">
                <a:solidFill>
                  <a:schemeClr val="bg1"/>
                </a:solidFill>
              </a:defRPr>
            </a:lvl1pPr>
          </a:lstStyle>
          <a:p>
            <a:fld id="{2D202488-4139-4052-B998-251C9C912739}" type="datetimeFigureOut">
              <a:rPr lang="en-US" noProof="0" smtClean="0"/>
              <a:pPr/>
              <a:t>1/28/2025</a:t>
            </a:fld>
            <a:endParaRPr lang="en-US" noProof="0" dirty="0"/>
          </a:p>
        </p:txBody>
      </p:sp>
      <p:sp>
        <p:nvSpPr>
          <p:cNvPr id="5" name="Footer Placeholder 4"/>
          <p:cNvSpPr>
            <a:spLocks noGrp="1"/>
          </p:cNvSpPr>
          <p:nvPr>
            <p:ph type="ftr" sz="quarter" idx="3"/>
          </p:nvPr>
        </p:nvSpPr>
        <p:spPr>
          <a:xfrm>
            <a:off x="1294364" y="6339730"/>
            <a:ext cx="5938836" cy="309201"/>
          </a:xfrm>
          <a:prstGeom prst="rect">
            <a:avLst/>
          </a:prstGeom>
        </p:spPr>
        <p:txBody>
          <a:bodyPr vert="horz" lIns="91440" tIns="45720" rIns="91440" bIns="45720" rtlCol="0" anchor="ctr"/>
          <a:lstStyle>
            <a:lvl1pPr algn="l">
              <a:defRPr sz="1000">
                <a:solidFill>
                  <a:schemeClr val="bg1"/>
                </a:solidFill>
              </a:defRPr>
            </a:lvl1pPr>
          </a:lstStyle>
          <a:p>
            <a:r>
              <a:rPr lang="en-US" noProof="0" dirty="0"/>
              <a:t>Add Footer Here</a:t>
            </a: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5870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7" r:id="rId7"/>
    <p:sldLayoutId id="2147483691" r:id="rId8"/>
    <p:sldLayoutId id="2147483692" r:id="rId9"/>
    <p:sldLayoutId id="2147483696" r:id="rId10"/>
    <p:sldLayoutId id="214748369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CA56C-7A25-4BD4-AA72-5256E68BE4CB}"/>
              </a:ext>
            </a:extLst>
          </p:cNvPr>
          <p:cNvSpPr>
            <a:spLocks noGrp="1"/>
          </p:cNvSpPr>
          <p:nvPr>
            <p:ph type="ctrTitle"/>
          </p:nvPr>
        </p:nvSpPr>
        <p:spPr/>
        <p:txBody>
          <a:bodyPr/>
          <a:lstStyle/>
          <a:p>
            <a:r>
              <a:rPr lang="en-US" dirty="0" smtClean="0"/>
              <a:t>LEAD SCORING CASE STUDY</a:t>
            </a:r>
            <a:endParaRPr lang="en-US" dirty="0"/>
          </a:p>
        </p:txBody>
      </p:sp>
      <p:pic>
        <p:nvPicPr>
          <p:cNvPr id="5" name="Graphic 4" descr="Brain in head icon&#10;">
            <a:extLst>
              <a:ext uri="{FF2B5EF4-FFF2-40B4-BE49-F238E27FC236}">
                <a16:creationId xmlns:a16="http://schemas.microsoft.com/office/drawing/2014/main" id="{D011E263-3212-4780-A140-E652B108BDC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10683178" y="0"/>
            <a:ext cx="1440000" cy="1440000"/>
          </a:xfrm>
          <a:prstGeom prst="rect">
            <a:avLst/>
          </a:prstGeom>
        </p:spPr>
      </p:pic>
      <p:sp>
        <p:nvSpPr>
          <p:cNvPr id="3" name="Subtitle 2">
            <a:extLst>
              <a:ext uri="{FF2B5EF4-FFF2-40B4-BE49-F238E27FC236}">
                <a16:creationId xmlns:a16="http://schemas.microsoft.com/office/drawing/2014/main" id="{BBBCF363-1123-45B1-8A9A-ABCDA40EF3F2}"/>
              </a:ext>
            </a:extLst>
          </p:cNvPr>
          <p:cNvSpPr>
            <a:spLocks noGrp="1"/>
          </p:cNvSpPr>
          <p:nvPr>
            <p:ph type="subTitle" idx="1"/>
          </p:nvPr>
        </p:nvSpPr>
        <p:spPr>
          <a:xfrm>
            <a:off x="1777464" y="3575164"/>
            <a:ext cx="8637072" cy="977621"/>
          </a:xfrm>
        </p:spPr>
        <p:txBody>
          <a:bodyPr/>
          <a:lstStyle/>
          <a:p>
            <a:r>
              <a:rPr lang="en-US" dirty="0" err="1" smtClean="0"/>
              <a:t>Garima</a:t>
            </a:r>
            <a:r>
              <a:rPr lang="en-US" dirty="0" smtClean="0"/>
              <a:t> </a:t>
            </a:r>
            <a:r>
              <a:rPr lang="en-US" dirty="0" err="1" smtClean="0"/>
              <a:t>Vaswani</a:t>
            </a:r>
            <a:endParaRPr lang="en-US" dirty="0"/>
          </a:p>
        </p:txBody>
      </p:sp>
    </p:spTree>
    <p:extLst>
      <p:ext uri="{BB962C8B-B14F-4D97-AF65-F5344CB8AC3E}">
        <p14:creationId xmlns:p14="http://schemas.microsoft.com/office/powerpoint/2010/main" val="410429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CD3E-5E33-4EB5-A2CE-C636605E633F}"/>
              </a:ext>
            </a:extLst>
          </p:cNvPr>
          <p:cNvSpPr>
            <a:spLocks noGrp="1"/>
          </p:cNvSpPr>
          <p:nvPr>
            <p:ph type="title"/>
          </p:nvPr>
        </p:nvSpPr>
        <p:spPr>
          <a:xfrm>
            <a:off x="1294363" y="739206"/>
            <a:ext cx="9603275" cy="885488"/>
          </a:xfrm>
        </p:spPr>
        <p:txBody>
          <a:bodyPr/>
          <a:lstStyle/>
          <a:p>
            <a:r>
              <a:rPr lang="en-US" dirty="0" smtClean="0"/>
              <a:t>Problem Statement</a:t>
            </a:r>
            <a:endParaRPr lang="en-US" dirty="0"/>
          </a:p>
        </p:txBody>
      </p:sp>
      <p:sp>
        <p:nvSpPr>
          <p:cNvPr id="3" name="Content Placeholder 2">
            <a:extLst>
              <a:ext uri="{FF2B5EF4-FFF2-40B4-BE49-F238E27FC236}">
                <a16:creationId xmlns:a16="http://schemas.microsoft.com/office/drawing/2014/main" id="{C3C0199F-A274-44C6-BF37-784A855E6EEA}"/>
              </a:ext>
            </a:extLst>
          </p:cNvPr>
          <p:cNvSpPr>
            <a:spLocks noGrp="1"/>
          </p:cNvSpPr>
          <p:nvPr>
            <p:ph idx="1"/>
          </p:nvPr>
        </p:nvSpPr>
        <p:spPr>
          <a:xfrm>
            <a:off x="1294363" y="1624694"/>
            <a:ext cx="9603275" cy="3841651"/>
          </a:xfrm>
        </p:spPr>
        <p:txBody>
          <a:bodyPr/>
          <a:lstStyle/>
          <a:p>
            <a:pPr lvl="0"/>
            <a:r>
              <a:rPr lang="en-US" dirty="0"/>
              <a:t> X Education sells online courses to industry </a:t>
            </a:r>
            <a:r>
              <a:rPr lang="en-US" dirty="0" smtClean="0"/>
              <a:t>professionals. </a:t>
            </a:r>
            <a:endParaRPr lang="en-US" dirty="0" smtClean="0">
              <a:solidFill>
                <a:srgbClr val="000000"/>
              </a:solidFill>
              <a:ea typeface="Tahoma" panose="020B0604030504040204" pitchFamily="34" charset="0"/>
              <a:cs typeface="Tahoma" panose="020B0604030504040204" pitchFamily="34" charset="0"/>
            </a:endParaRPr>
          </a:p>
          <a:p>
            <a:pPr lvl="0"/>
            <a:r>
              <a:rPr lang="en-US" dirty="0">
                <a:solidFill>
                  <a:srgbClr val="000000"/>
                </a:solidFill>
                <a:ea typeface="Tahoma" panose="020B0604030504040204" pitchFamily="34" charset="0"/>
                <a:cs typeface="Tahoma" panose="020B0604030504040204" pitchFamily="34" charset="0"/>
              </a:rPr>
              <a:t> </a:t>
            </a:r>
            <a:r>
              <a:rPr lang="en-US" dirty="0" smtClean="0">
                <a:solidFill>
                  <a:srgbClr val="000000"/>
                </a:solidFill>
                <a:ea typeface="Tahoma" panose="020B0604030504040204" pitchFamily="34" charset="0"/>
                <a:cs typeface="Tahoma" panose="020B0604030504040204" pitchFamily="34" charset="0"/>
              </a:rPr>
              <a:t>X Education get lot of leads , its conversion rate is not very promising as out of 100 leads in a day only 30 of them get converted into potential course takers</a:t>
            </a:r>
          </a:p>
          <a:p>
            <a:pPr lvl="0"/>
            <a:r>
              <a:rPr lang="en-US" dirty="0" smtClean="0">
                <a:solidFill>
                  <a:srgbClr val="000000"/>
                </a:solidFill>
                <a:ea typeface="Tahoma" panose="020B0604030504040204" pitchFamily="34" charset="0"/>
                <a:cs typeface="Tahoma" panose="020B0604030504040204" pitchFamily="34" charset="0"/>
              </a:rPr>
              <a:t>To make the process more efficient the company wishes to identify the most potential leads, also known as ‘Hot leads’</a:t>
            </a:r>
          </a:p>
          <a:p>
            <a:pPr lvl="0"/>
            <a:r>
              <a:rPr lang="en-US" dirty="0" smtClean="0">
                <a:solidFill>
                  <a:srgbClr val="000000"/>
                </a:solidFill>
                <a:ea typeface="Tahoma" panose="020B0604030504040204" pitchFamily="34" charset="0"/>
                <a:cs typeface="Tahoma" panose="020B0604030504040204" pitchFamily="34" charset="0"/>
              </a:rPr>
              <a:t>If they successfully identify the set of leads, the lead conversion rate should go up as the sales team will now be focusing more on communicating with the potential leads rather than making calls to everyone.</a:t>
            </a:r>
            <a:endParaRPr lang="en-US" dirty="0">
              <a:solidFill>
                <a:srgbClr val="000000"/>
              </a:solidFill>
              <a:ea typeface="Tahoma" panose="020B0604030504040204" pitchFamily="34" charset="0"/>
              <a:cs typeface="Tahoma" panose="020B0604030504040204" pitchFamily="34" charset="0"/>
            </a:endParaRPr>
          </a:p>
        </p:txBody>
      </p:sp>
      <p:pic>
        <p:nvPicPr>
          <p:cNvPr id="6" name="Picture 5" descr="2,667 Lead Scoring Images, Stock Photos ..."/>
          <p:cNvPicPr/>
          <p:nvPr/>
        </p:nvPicPr>
        <p:blipFill rotWithShape="1">
          <a:blip r:embed="rId2">
            <a:extLst>
              <a:ext uri="{28A0092B-C50C-407E-A947-70E740481C1C}">
                <a14:useLocalDpi xmlns:a14="http://schemas.microsoft.com/office/drawing/2010/main" val="0"/>
              </a:ext>
            </a:extLst>
          </a:blip>
          <a:srcRect b="6666"/>
          <a:stretch/>
        </p:blipFill>
        <p:spPr bwMode="auto">
          <a:xfrm>
            <a:off x="10781846" y="0"/>
            <a:ext cx="1410154" cy="118745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49431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CD3E-5E33-4EB5-A2CE-C636605E633F}"/>
              </a:ext>
            </a:extLst>
          </p:cNvPr>
          <p:cNvSpPr>
            <a:spLocks noGrp="1"/>
          </p:cNvSpPr>
          <p:nvPr>
            <p:ph type="title"/>
          </p:nvPr>
        </p:nvSpPr>
        <p:spPr>
          <a:xfrm>
            <a:off x="1182642" y="808264"/>
            <a:ext cx="10252659" cy="1045490"/>
          </a:xfrm>
        </p:spPr>
        <p:txBody>
          <a:bodyPr/>
          <a:lstStyle/>
          <a:p>
            <a:r>
              <a:rPr lang="en-US" dirty="0" smtClean="0"/>
              <a:t>Business Objective</a:t>
            </a:r>
            <a:endParaRPr lang="en-US" dirty="0"/>
          </a:p>
        </p:txBody>
      </p:sp>
      <p:pic>
        <p:nvPicPr>
          <p:cNvPr id="4" name="Graphic 3" descr="Lightbulb icon">
            <a:extLst>
              <a:ext uri="{FF2B5EF4-FFF2-40B4-BE49-F238E27FC236}">
                <a16:creationId xmlns:a16="http://schemas.microsoft.com/office/drawing/2014/main" id="{5E124F8C-3984-4EEC-9BA8-3B255731F2B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1451629" y="67893"/>
            <a:ext cx="740371" cy="740371"/>
          </a:xfrm>
          <a:prstGeom prst="rect">
            <a:avLst/>
          </a:prstGeom>
        </p:spPr>
      </p:pic>
      <p:sp>
        <p:nvSpPr>
          <p:cNvPr id="3" name="Content Placeholder 2">
            <a:extLst>
              <a:ext uri="{FF2B5EF4-FFF2-40B4-BE49-F238E27FC236}">
                <a16:creationId xmlns:a16="http://schemas.microsoft.com/office/drawing/2014/main" id="{C3C0199F-A274-44C6-BF37-784A855E6EEA}"/>
              </a:ext>
            </a:extLst>
          </p:cNvPr>
          <p:cNvSpPr>
            <a:spLocks noGrp="1"/>
          </p:cNvSpPr>
          <p:nvPr>
            <p:ph idx="1"/>
          </p:nvPr>
        </p:nvSpPr>
        <p:spPr>
          <a:xfrm>
            <a:off x="5534205" y="1573721"/>
            <a:ext cx="5917424" cy="3906966"/>
          </a:xfrm>
        </p:spPr>
        <p:txBody>
          <a:bodyPr/>
          <a:lstStyle/>
          <a:p>
            <a:pPr lvl="0"/>
            <a:r>
              <a:rPr lang="en-US" dirty="0" smtClean="0">
                <a:solidFill>
                  <a:srgbClr val="000000"/>
                </a:solidFill>
                <a:ea typeface="Tahoma" panose="020B0604030504040204" pitchFamily="34" charset="0"/>
                <a:cs typeface="Tahoma" panose="020B0604030504040204" pitchFamily="34" charset="0"/>
              </a:rPr>
              <a:t>X Education needs help in selecting the most promising leads i.e. Leads that are most likely to convert into paying customers</a:t>
            </a:r>
          </a:p>
          <a:p>
            <a:pPr lvl="1"/>
            <a:r>
              <a:rPr lang="en-US" dirty="0" smtClean="0">
                <a:solidFill>
                  <a:srgbClr val="000000"/>
                </a:solidFill>
                <a:ea typeface="Tahoma" panose="020B0604030504040204" pitchFamily="34" charset="0"/>
                <a:cs typeface="Tahoma" panose="020B0604030504040204" pitchFamily="34" charset="0"/>
              </a:rPr>
              <a:t>How </a:t>
            </a:r>
            <a:r>
              <a:rPr lang="en-US" dirty="0">
                <a:solidFill>
                  <a:srgbClr val="000000"/>
                </a:solidFill>
                <a:ea typeface="Tahoma" panose="020B0604030504040204" pitchFamily="34" charset="0"/>
                <a:cs typeface="Tahoma" panose="020B0604030504040204" pitchFamily="34" charset="0"/>
              </a:rPr>
              <a:t>did you identify this problem or need</a:t>
            </a:r>
            <a:r>
              <a:rPr lang="en-US" dirty="0">
                <a:ea typeface="Tahoma" panose="020B0604030504040204" pitchFamily="34" charset="0"/>
                <a:cs typeface="Tahoma" panose="020B0604030504040204" pitchFamily="34" charset="0"/>
              </a:rPr>
              <a:t>?</a:t>
            </a:r>
          </a:p>
          <a:p>
            <a:endParaRPr lang="en-US" dirty="0"/>
          </a:p>
          <a:p>
            <a:endParaRPr lang="en-US" dirty="0"/>
          </a:p>
        </p:txBody>
      </p:sp>
      <p:pic>
        <p:nvPicPr>
          <p:cNvPr id="5" name="Picture 4"/>
          <p:cNvPicPr/>
          <p:nvPr/>
        </p:nvPicPr>
        <p:blipFill rotWithShape="1">
          <a:blip r:embed="rId5"/>
          <a:srcRect l="4510" t="42412"/>
          <a:stretch/>
        </p:blipFill>
        <p:spPr bwMode="auto">
          <a:xfrm>
            <a:off x="1166314" y="1573721"/>
            <a:ext cx="4254771" cy="37718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94298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CD3E-5E33-4EB5-A2CE-C636605E633F}"/>
              </a:ext>
            </a:extLst>
          </p:cNvPr>
          <p:cNvSpPr>
            <a:spLocks noGrp="1"/>
          </p:cNvSpPr>
          <p:nvPr>
            <p:ph type="title"/>
          </p:nvPr>
        </p:nvSpPr>
        <p:spPr>
          <a:xfrm>
            <a:off x="1324770" y="875451"/>
            <a:ext cx="9603275" cy="1020997"/>
          </a:xfrm>
        </p:spPr>
        <p:txBody>
          <a:bodyPr/>
          <a:lstStyle/>
          <a:p>
            <a:r>
              <a:rPr lang="en-US" dirty="0" smtClean="0"/>
              <a:t>Strategy</a:t>
            </a:r>
            <a:endParaRPr lang="en-US" dirty="0"/>
          </a:p>
        </p:txBody>
      </p:sp>
      <p:pic>
        <p:nvPicPr>
          <p:cNvPr id="6" name="Graphic 5" descr="Tools icon">
            <a:extLst>
              <a:ext uri="{FF2B5EF4-FFF2-40B4-BE49-F238E27FC236}">
                <a16:creationId xmlns:a16="http://schemas.microsoft.com/office/drawing/2014/main" id="{A0524D64-7C99-4DD6-A26E-C33BE01EC436}"/>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884045" y="340011"/>
            <a:ext cx="1044000" cy="1044000"/>
          </a:xfrm>
          <a:prstGeom prst="rect">
            <a:avLst/>
          </a:prstGeom>
        </p:spPr>
      </p:pic>
      <p:pic>
        <p:nvPicPr>
          <p:cNvPr id="4" name="Content Placeholder 3"/>
          <p:cNvPicPr>
            <a:picLocks noGrp="1" noChangeAspect="1"/>
          </p:cNvPicPr>
          <p:nvPr>
            <p:ph idx="1"/>
          </p:nvPr>
        </p:nvPicPr>
        <p:blipFill>
          <a:blip r:embed="rId4"/>
          <a:stretch>
            <a:fillRect/>
          </a:stretch>
        </p:blipFill>
        <p:spPr>
          <a:xfrm>
            <a:off x="1368695" y="1694210"/>
            <a:ext cx="8515350" cy="3910346"/>
          </a:xfrm>
          <a:prstGeom prst="rect">
            <a:avLst/>
          </a:prstGeom>
        </p:spPr>
      </p:pic>
    </p:spTree>
    <p:extLst>
      <p:ext uri="{BB962C8B-B14F-4D97-AF65-F5344CB8AC3E}">
        <p14:creationId xmlns:p14="http://schemas.microsoft.com/office/powerpoint/2010/main" val="2712936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4258" y="1717371"/>
            <a:ext cx="9650186" cy="3693319"/>
          </a:xfrm>
          <a:prstGeom prst="rect">
            <a:avLst/>
          </a:prstGeom>
        </p:spPr>
        <p:txBody>
          <a:bodyPr wrap="square">
            <a:spAutoFit/>
          </a:bodyPr>
          <a:lstStyle/>
          <a:p>
            <a:endParaRPr lang="en-US" dirty="0"/>
          </a:p>
          <a:p>
            <a:r>
              <a:rPr lang="en-US" dirty="0" smtClean="0"/>
              <a:t>▶ </a:t>
            </a:r>
            <a:r>
              <a:rPr lang="en-US" dirty="0"/>
              <a:t>Total Number of Rows=37,Total Number of Columns =9240.</a:t>
            </a:r>
          </a:p>
          <a:p>
            <a:r>
              <a:rPr lang="en-US" dirty="0"/>
              <a:t>▶ Single value features </a:t>
            </a:r>
            <a:r>
              <a:rPr lang="en-US" dirty="0" err="1"/>
              <a:t>like“Magazine</a:t>
            </a:r>
            <a:r>
              <a:rPr lang="en-US" dirty="0"/>
              <a:t>”, “</a:t>
            </a:r>
            <a:r>
              <a:rPr lang="en-US" dirty="0" err="1"/>
              <a:t>ReceiveMoreUpdates</a:t>
            </a:r>
            <a:r>
              <a:rPr lang="en-US" dirty="0"/>
              <a:t> About Our Courses”,  “Update my supply”</a:t>
            </a:r>
          </a:p>
          <a:p>
            <a:r>
              <a:rPr lang="en-US" dirty="0"/>
              <a:t>▶ Chain Content”, “Get updates on DM Content”, “I agree to pay the amount through </a:t>
            </a:r>
            <a:r>
              <a:rPr lang="en-US" dirty="0" err="1"/>
              <a:t>cheque</a:t>
            </a:r>
            <a:r>
              <a:rPr lang="en-US" dirty="0"/>
              <a:t>” etc. have been dropped.</a:t>
            </a:r>
          </a:p>
          <a:p>
            <a:r>
              <a:rPr lang="en-US" dirty="0"/>
              <a:t>▶ Removing </a:t>
            </a:r>
            <a:r>
              <a:rPr lang="en-US" dirty="0" err="1"/>
              <a:t>the“ProspectID</a:t>
            </a:r>
            <a:r>
              <a:rPr lang="en-US" dirty="0"/>
              <a:t>” and “Lead Number” which are not necessary for the analysis.</a:t>
            </a:r>
          </a:p>
          <a:p>
            <a:r>
              <a:rPr lang="en-US" dirty="0"/>
              <a:t>▶ After checking for the value counts for some of the object type variables, we find some of the features which have enough variance, which have dropped, the features are:  “Do Not Call”, “What matters most to you in choosing course”, “Search”, “Newspaper, Article”, “</a:t>
            </a:r>
            <a:r>
              <a:rPr lang="en-US" dirty="0" err="1"/>
              <a:t>XEducation</a:t>
            </a:r>
            <a:r>
              <a:rPr lang="en-US" dirty="0"/>
              <a:t> Forums”, “Newspaper”, “</a:t>
            </a:r>
            <a:r>
              <a:rPr lang="en-US" dirty="0" err="1"/>
              <a:t>DigitalAdvertisement</a:t>
            </a:r>
            <a:r>
              <a:rPr lang="en-US" dirty="0"/>
              <a:t>” etc.</a:t>
            </a:r>
          </a:p>
          <a:p>
            <a:r>
              <a:rPr lang="en-US" dirty="0"/>
              <a:t>▶ Dropping the column shaving more than 35% as missing values such as ‘How did you hear about X Education’ </a:t>
            </a:r>
            <a:r>
              <a:rPr lang="en-US" dirty="0" err="1"/>
              <a:t>and‘Lead</a:t>
            </a:r>
            <a:r>
              <a:rPr lang="en-US" dirty="0"/>
              <a:t> Profile’.</a:t>
            </a:r>
          </a:p>
        </p:txBody>
      </p:sp>
      <p:sp>
        <p:nvSpPr>
          <p:cNvPr id="5" name="TextBox 4"/>
          <p:cNvSpPr txBox="1"/>
          <p:nvPr/>
        </p:nvSpPr>
        <p:spPr>
          <a:xfrm>
            <a:off x="1306286" y="840921"/>
            <a:ext cx="7029450" cy="646331"/>
          </a:xfrm>
          <a:prstGeom prst="rect">
            <a:avLst/>
          </a:prstGeom>
          <a:noFill/>
        </p:spPr>
        <p:txBody>
          <a:bodyPr wrap="square" rtlCol="0">
            <a:spAutoFit/>
          </a:bodyPr>
          <a:lstStyle/>
          <a:p>
            <a:r>
              <a:rPr lang="en-US" dirty="0"/>
              <a:t>DATA MANIPULATION</a:t>
            </a:r>
          </a:p>
          <a:p>
            <a:endParaRPr lang="en-US" dirty="0"/>
          </a:p>
        </p:txBody>
      </p:sp>
    </p:spTree>
    <p:extLst>
      <p:ext uri="{BB962C8B-B14F-4D97-AF65-F5344CB8AC3E}">
        <p14:creationId xmlns:p14="http://schemas.microsoft.com/office/powerpoint/2010/main" val="3150303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Box Plots </a:t>
            </a:r>
            <a:endParaRPr lang="en-US" dirty="0"/>
          </a:p>
        </p:txBody>
      </p:sp>
      <p:grpSp>
        <p:nvGrpSpPr>
          <p:cNvPr id="4" name="Group 3"/>
          <p:cNvGrpSpPr/>
          <p:nvPr/>
        </p:nvGrpSpPr>
        <p:grpSpPr>
          <a:xfrm>
            <a:off x="827566" y="1853754"/>
            <a:ext cx="17874552" cy="12440433"/>
            <a:chOff x="500877" y="243301"/>
            <a:chExt cx="17874601" cy="12441199"/>
          </a:xfrm>
        </p:grpSpPr>
        <p:pic>
          <p:nvPicPr>
            <p:cNvPr id="6" name="Picture 5"/>
            <p:cNvPicPr/>
            <p:nvPr/>
          </p:nvPicPr>
          <p:blipFill>
            <a:blip r:embed="rId2"/>
            <a:stretch>
              <a:fillRect/>
            </a:stretch>
          </p:blipFill>
          <p:spPr>
            <a:xfrm>
              <a:off x="500877" y="243301"/>
              <a:ext cx="10344149" cy="3771900"/>
            </a:xfrm>
            <a:prstGeom prst="rect">
              <a:avLst/>
            </a:prstGeom>
          </p:spPr>
        </p:pic>
        <p:pic>
          <p:nvPicPr>
            <p:cNvPr id="7" name="Picture 6"/>
            <p:cNvPicPr/>
            <p:nvPr/>
          </p:nvPicPr>
          <p:blipFill>
            <a:blip r:embed="rId3"/>
            <a:stretch>
              <a:fillRect/>
            </a:stretch>
          </p:blipFill>
          <p:spPr>
            <a:xfrm>
              <a:off x="12479503" y="6693275"/>
              <a:ext cx="5895975" cy="5991225"/>
            </a:xfrm>
            <a:prstGeom prst="rect">
              <a:avLst/>
            </a:prstGeom>
          </p:spPr>
        </p:pic>
      </p:grpSp>
    </p:spTree>
    <p:extLst>
      <p:ext uri="{BB962C8B-B14F-4D97-AF65-F5344CB8AC3E}">
        <p14:creationId xmlns:p14="http://schemas.microsoft.com/office/powerpoint/2010/main" val="2418135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2024743"/>
            <a:ext cx="8521831" cy="3342920"/>
          </a:xfrm>
        </p:spPr>
        <p:txBody>
          <a:bodyPr/>
          <a:lstStyle/>
          <a:p>
            <a:r>
              <a:rPr lang="en-US" dirty="0" smtClean="0"/>
              <a:t>Heat Maps</a:t>
            </a:r>
            <a:endParaRPr lang="en-US" dirty="0"/>
          </a:p>
        </p:txBody>
      </p:sp>
      <p:sp>
        <p:nvSpPr>
          <p:cNvPr id="3" name="Title 2"/>
          <p:cNvSpPr>
            <a:spLocks noGrp="1"/>
          </p:cNvSpPr>
          <p:nvPr>
            <p:ph type="title"/>
          </p:nvPr>
        </p:nvSpPr>
        <p:spPr/>
        <p:txBody>
          <a:bodyPr/>
          <a:lstStyle/>
          <a:p>
            <a:r>
              <a:rPr lang="en-US" dirty="0" smtClean="0"/>
              <a:t>Heat </a:t>
            </a:r>
            <a:r>
              <a:rPr lang="en-US" smtClean="0"/>
              <a:t>MaPS</a:t>
            </a:r>
            <a:endParaRPr lang="en-US"/>
          </a:p>
        </p:txBody>
      </p:sp>
      <p:pic>
        <p:nvPicPr>
          <p:cNvPr id="7" name="Picture 6"/>
          <p:cNvPicPr/>
          <p:nvPr/>
        </p:nvPicPr>
        <p:blipFill>
          <a:blip r:embed="rId2"/>
          <a:stretch>
            <a:fillRect/>
          </a:stretch>
        </p:blipFill>
        <p:spPr>
          <a:xfrm>
            <a:off x="3641271" y="2326821"/>
            <a:ext cx="7256366" cy="3040842"/>
          </a:xfrm>
          <a:prstGeom prst="rect">
            <a:avLst/>
          </a:prstGeom>
        </p:spPr>
      </p:pic>
    </p:spTree>
    <p:extLst>
      <p:ext uri="{BB962C8B-B14F-4D97-AF65-F5344CB8AC3E}">
        <p14:creationId xmlns:p14="http://schemas.microsoft.com/office/powerpoint/2010/main" val="813516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Next Steps</a:t>
            </a:r>
            <a:endParaRPr lang="en-US" dirty="0"/>
          </a:p>
        </p:txBody>
      </p:sp>
      <p:sp>
        <p:nvSpPr>
          <p:cNvPr id="9" name="Rectangle 9"/>
          <p:cNvSpPr>
            <a:spLocks noChangeArrowheads="1"/>
          </p:cNvSpPr>
          <p:nvPr/>
        </p:nvSpPr>
        <p:spPr bwMode="auto">
          <a:xfrm>
            <a:off x="527758" y="951864"/>
            <a:ext cx="10956210" cy="4354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57075" tIns="914112" rIns="431664" bIns="91411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Bivariate data analysis: correlation coefficients and pattern between </a:t>
            </a:r>
            <a:r>
              <a:rPr kumimoji="0" lang="en-US" altLang="en-US" sz="2100" b="0" i="0" u="none" strike="noStrike" cap="none" normalizeH="0" baseline="0" dirty="0" err="1" smtClean="0">
                <a:ln>
                  <a:noFill/>
                </a:ln>
                <a:solidFill>
                  <a:srgbClr val="171616"/>
                </a:solidFill>
                <a:effectLst/>
                <a:latin typeface="Arial" panose="020B0604020202020204" pitchFamily="34" charset="0"/>
                <a:ea typeface="Calibri" panose="020F0502020204030204" pitchFamily="34" charset="0"/>
              </a:rPr>
              <a:t>thevariables</a:t>
            </a: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 etc.</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Feature Scaling &amp; Dummy variables and encoding of the data.</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Classification technique: logistic regression is used for model making and prediction.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Validation of the model.</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Model presentation.</a:t>
            </a: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smtClean="0">
                <a:ln>
                  <a:noFill/>
                </a:ln>
                <a:solidFill>
                  <a:srgbClr val="171616"/>
                </a:solidFill>
                <a:effectLst/>
                <a:latin typeface="Arial" panose="020B0604020202020204" pitchFamily="34" charset="0"/>
                <a:ea typeface="Calibri" panose="020F0502020204030204" pitchFamily="34" charset="0"/>
              </a:rPr>
              <a:t>Conclusions and recommendations.</a:t>
            </a:r>
            <a:endParaRPr kumimoji="0" lang="en-US" altLang="en-US" sz="1100" b="0" i="0" u="none" strike="noStrike" cap="none" normalizeH="0" baseline="0" dirty="0" smtClean="0">
              <a:ln>
                <a:noFill/>
              </a:ln>
              <a:solidFill>
                <a:srgbClr val="000000"/>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000000"/>
                </a:solidFill>
                <a:effectLst/>
                <a:latin typeface="Arial" panose="020B0604020202020204" pitchFamily="34" charset="0"/>
                <a:ea typeface="Calibri" panose="020F0502020204030204" pitchFamily="34" charset="0"/>
              </a:rPr>
              <a:t/>
            </a:r>
            <a:br>
              <a:rPr kumimoji="0" lang="en-US" altLang="en-US" sz="1100" b="0" i="0" u="none" strike="noStrike" cap="none" normalizeH="0" baseline="0" dirty="0" smtClean="0">
                <a:ln>
                  <a:noFill/>
                </a:ln>
                <a:solidFill>
                  <a:srgbClr val="000000"/>
                </a:solidFill>
                <a:effectLst/>
                <a:latin typeface="Arial" panose="020B0604020202020204" pitchFamily="34" charset="0"/>
                <a:ea typeface="Calibri" panose="020F0502020204030204" pitchFamily="34" charset="0"/>
              </a:rPr>
            </a:b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4448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222A-0050-42E6-8C3E-86E3C365C411}"/>
              </a:ext>
            </a:extLst>
          </p:cNvPr>
          <p:cNvSpPr>
            <a:spLocks noGrp="1"/>
          </p:cNvSpPr>
          <p:nvPr>
            <p:ph type="title"/>
          </p:nvPr>
        </p:nvSpPr>
        <p:spPr>
          <a:xfrm>
            <a:off x="1290908" y="587829"/>
            <a:ext cx="9610183" cy="812371"/>
          </a:xfrm>
        </p:spPr>
        <p:txBody>
          <a:bodyPr>
            <a:normAutofit fontScale="90000"/>
          </a:bodyPr>
          <a:lstStyle/>
          <a:p>
            <a:r>
              <a:rPr lang="en-US" dirty="0" smtClean="0"/>
              <a:t>Model Evaluation- Sensitivity and Specificity on the train data Set</a:t>
            </a:r>
            <a:endParaRPr lang="en-US" dirty="0"/>
          </a:p>
        </p:txBody>
      </p:sp>
      <p:pic>
        <p:nvPicPr>
          <p:cNvPr id="10" name="Graphic 9" descr="Star icon">
            <a:extLst>
              <a:ext uri="{FF2B5EF4-FFF2-40B4-BE49-F238E27FC236}">
                <a16:creationId xmlns:a16="http://schemas.microsoft.com/office/drawing/2014/main" id="{F76D2371-447B-414B-9273-61F2CA39ACA2}"/>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0999881" y="0"/>
            <a:ext cx="1044000" cy="1044000"/>
          </a:xfrm>
          <a:prstGeom prst="rect">
            <a:avLst/>
          </a:prstGeom>
        </p:spPr>
      </p:pic>
    </p:spTree>
    <p:extLst>
      <p:ext uri="{BB962C8B-B14F-4D97-AF65-F5344CB8AC3E}">
        <p14:creationId xmlns:p14="http://schemas.microsoft.com/office/powerpoint/2010/main" val="2412294028"/>
      </p:ext>
    </p:extLst>
  </p:cSld>
  <p:clrMapOvr>
    <a:masterClrMapping/>
  </p:clrMapOvr>
</p:sld>
</file>

<file path=ppt/theme/theme1.xml><?xml version="1.0" encoding="utf-8"?>
<a:theme xmlns:a="http://schemas.openxmlformats.org/drawingml/2006/main" name="Gallery">
  <a:themeElements>
    <a:clrScheme name="Custom 10">
      <a:dk1>
        <a:sysClr val="windowText" lastClr="000000"/>
      </a:dk1>
      <a:lt1>
        <a:sysClr val="window" lastClr="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Default">
      <a:majorFont>
        <a:latin typeface="Gill Sans MT"/>
        <a:ea typeface=""/>
        <a:cs typeface=""/>
      </a:majorFont>
      <a:minorFont>
        <a:latin typeface="Gill Sans MT"/>
        <a:ea typeface=""/>
        <a:cs typeface=""/>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spDef>
      <a:spPr>
        <a:solidFill>
          <a:srgbClr val="B71E42"/>
        </a:solidFill>
        <a:ln>
          <a:noFill/>
        </a:ln>
      </a:spPr>
      <a:bodyPr rtlCol="0" anchor="ctr"/>
      <a:lstStyle>
        <a:defPPr algn="ctr">
          <a:defRPr/>
        </a:defPPr>
      </a:lstStyle>
      <a:style>
        <a:lnRef idx="3">
          <a:schemeClr val="lt1"/>
        </a:lnRef>
        <a:fillRef idx="1">
          <a:schemeClr val="accent1"/>
        </a:fillRef>
        <a:effectRef idx="1">
          <a:schemeClr val="accent1"/>
        </a:effectRef>
        <a:fontRef idx="minor">
          <a:schemeClr val="lt1"/>
        </a:fontRef>
      </a:style>
    </a:spDef>
    <a:lnDef>
      <a:spPr>
        <a:ln w="31750"/>
      </a:spPr>
      <a:bodyPr/>
      <a:lstStyle/>
      <a:style>
        <a:lnRef idx="3">
          <a:schemeClr val="accent1"/>
        </a:lnRef>
        <a:fillRef idx="0">
          <a:schemeClr val="accent1"/>
        </a:fillRef>
        <a:effectRef idx="2">
          <a:schemeClr val="accent1"/>
        </a:effectRef>
        <a:fontRef idx="minor">
          <a:schemeClr val="tx1"/>
        </a:fontRef>
      </a:style>
    </a:lnDef>
  </a:objectDefaults>
  <a:extraClrSchemeLst/>
  <a:extLst>
    <a:ext uri="{05A4C25C-085E-4340-85A3-A5531E510DB2}">
      <thm15:themeFamily xmlns:thm15="http://schemas.microsoft.com/office/thememl/2012/main" name="TF66921596_My invention presentation_AAS_v5" id="{87E5ADC5-22B1-48B6-A377-CC62C9F76903}" vid="{35D6D025-A430-4CAD-B81F-81678F6B39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1DB373-C1A1-4924-9AF2-F04368201509}">
  <ds:schemaRefs>
    <ds:schemaRef ds:uri="http://schemas.microsoft.com/office/2006/documentManagement/types"/>
    <ds:schemaRef ds:uri="71af3243-3dd4-4a8d-8c0d-dd76da1f02a5"/>
    <ds:schemaRef ds:uri="http://purl.org/dc/terms/"/>
    <ds:schemaRef ds:uri="http://www.w3.org/XML/1998/namespac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customXml/itemProps2.xml><?xml version="1.0" encoding="utf-8"?>
<ds:datastoreItem xmlns:ds="http://schemas.openxmlformats.org/officeDocument/2006/customXml" ds:itemID="{459C8665-7E41-4E8E-957E-307F6F826AF4}">
  <ds:schemaRefs>
    <ds:schemaRef ds:uri="http://schemas.microsoft.com/sharepoint/v3/contenttype/forms"/>
  </ds:schemaRefs>
</ds:datastoreItem>
</file>

<file path=customXml/itemProps3.xml><?xml version="1.0" encoding="utf-8"?>
<ds:datastoreItem xmlns:ds="http://schemas.openxmlformats.org/officeDocument/2006/customXml" ds:itemID="{CFA01955-FFEB-4169-B0BF-D790410D62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My invention</Template>
  <TotalTime>0</TotalTime>
  <Words>382</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Gill Sans MT</vt:lpstr>
      <vt:lpstr>Tahoma</vt:lpstr>
      <vt:lpstr>Gallery</vt:lpstr>
      <vt:lpstr>LEAD SCORING CASE STUDY</vt:lpstr>
      <vt:lpstr>Problem Statement</vt:lpstr>
      <vt:lpstr>Business Objective</vt:lpstr>
      <vt:lpstr>Strategy</vt:lpstr>
      <vt:lpstr>PowerPoint Presentation</vt:lpstr>
      <vt:lpstr>Box Plots </vt:lpstr>
      <vt:lpstr>Heat MaPS</vt:lpstr>
      <vt:lpstr>Next Steps</vt:lpstr>
      <vt:lpstr>Model Evaluation- Sensitivity and Specificity on the train data Set</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2025-01-23T12:08:44Z</dcterms:created>
  <dcterms:modified xsi:type="dcterms:W3CDTF">2025-01-28T18:11:37Z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